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64008"/>
          </a:xfrm>
          <a:prstGeom prst="rect">
            <a:avLst/>
          </a:prstGeom>
          <a:solidFill>
            <a:srgbClr val="1B8FFF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00C9B1">
              <a:alpha val="10000"/>
            </a:srgbClr>
          </a:solidFill>
          <a:ln w="12700">
            <a:solidFill>
              <a:srgbClr val="00C9B1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1B8FFF">
              <a:alpha val="8000"/>
            </a:srgbClr>
          </a:solidFill>
          <a:ln w="12700">
            <a:solidFill>
              <a:srgbClr val="1B8FFF">
                <a:alpha val="45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4114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9B1"/>
                </a:solidFill>
              </a:rPr>
              <a:t>ELECTRICAL ENGINEERING TECHNOLOGY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86868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IoT-Based Smart Energy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Automated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System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57200" y="303580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C9B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Innovation for Efficient Energy Management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3493008"/>
            <a:ext cx="8229600" cy="22860"/>
          </a:xfrm>
          <a:prstGeom prst="rect">
            <a:avLst/>
          </a:prstGeom>
          <a:solidFill>
            <a:srgbClr val="1B8FFF">
              <a:alpha val="6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3584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B8FF"/>
                </a:solidFill>
              </a:rPr>
              <a:t>Team Members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38770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F"/>
                </a:solidFill>
              </a:rPr>
              <a:t>● S. V. L. Kodithuwakku  · Group Leader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57200" y="40965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F"/>
                </a:solidFill>
              </a:rPr>
              <a:t>● W. I. U. Fernando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57200" y="431596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F"/>
                </a:solidFill>
              </a:rPr>
              <a:t>● K. T. R. Kalubowila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754880" y="38770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F"/>
                </a:solidFill>
              </a:rPr>
              <a:t>● K. A. N. K. Kalurachchi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754880" y="40965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F"/>
                </a:solidFill>
              </a:rPr>
              <a:t>● K. H. Kulathunga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754880" y="431596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347"/>
                </a:solidFill>
              </a:rPr>
              <a:t>Supervisor: Ms. Dinushi Ganepola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C9B1">
              <a:alpha val="3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C9B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2011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9B1"/>
                </a:solidFill>
              </a:rPr>
              <a:t>PROBLEM STATEMENT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05840" y="5212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Why Traditional Energy Billing Falls Short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321040" y="228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C9B1"/>
                </a:solidFill>
              </a:rPr>
              <a:t>02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20040" y="1170432"/>
            <a:ext cx="4160520" cy="1627632"/>
          </a:xfrm>
          <a:prstGeom prst="rect">
            <a:avLst/>
          </a:prstGeom>
          <a:solidFill>
            <a:srgbClr val="0F2040"/>
          </a:solidFill>
          <a:ln w="19050">
            <a:solidFill>
              <a:srgbClr val="1B8FFF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1170432"/>
            <a:ext cx="64008" cy="1627632"/>
          </a:xfrm>
          <a:prstGeom prst="rect">
            <a:avLst/>
          </a:prstGeom>
          <a:solidFill>
            <a:srgbClr val="1B8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133502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Manual Reading Errors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02920" y="1792224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DA5BE"/>
                </a:solidFill>
              </a:rPr>
              <a:t>High risk of human error in traditional meter reading leads to incorrect billing and disputes.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754880" y="1170432"/>
            <a:ext cx="4160520" cy="1627632"/>
          </a:xfrm>
          <a:prstGeom prst="rect">
            <a:avLst/>
          </a:prstGeom>
          <a:solidFill>
            <a:srgbClr val="0F2040"/>
          </a:solidFill>
          <a:ln w="19050">
            <a:solidFill>
              <a:srgbClr val="00C9B1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54880" y="1170432"/>
            <a:ext cx="64008" cy="1627632"/>
          </a:xfrm>
          <a:prstGeom prst="rect">
            <a:avLst/>
          </a:prstGeom>
          <a:solidFill>
            <a:srgbClr val="00C9B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371600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40680" y="133502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Lack of Transparency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937760" y="1792224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DA5BE"/>
                </a:solidFill>
              </a:rPr>
              <a:t>Consumers cannot monitor their energy consumption in real-time, causing information gaps.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320040" y="2999232"/>
            <a:ext cx="4160520" cy="1627632"/>
          </a:xfrm>
          <a:prstGeom prst="rect">
            <a:avLst/>
          </a:prstGeom>
          <a:solidFill>
            <a:srgbClr val="0F2040"/>
          </a:solidFill>
          <a:ln w="19050">
            <a:solidFill>
              <a:srgbClr val="FFB347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320040" y="2999232"/>
            <a:ext cx="64008" cy="1627632"/>
          </a:xfrm>
          <a:prstGeom prst="rect">
            <a:avLst/>
          </a:prstGeom>
          <a:solidFill>
            <a:srgbClr val="FFB34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200400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05840" y="316382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Unpredictable Bills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02920" y="3621024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DA5BE"/>
                </a:solidFill>
              </a:rPr>
              <a:t>Users are surprised by high electricity bills at the end of the month with no prior warning.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754880" y="2999232"/>
            <a:ext cx="4160520" cy="1627632"/>
          </a:xfrm>
          <a:prstGeom prst="rect">
            <a:avLst/>
          </a:prstGeom>
          <a:solidFill>
            <a:srgbClr val="0F2040"/>
          </a:solidFill>
          <a:ln w="19050">
            <a:solidFill>
              <a:srgbClr val="5BB8FF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754880" y="2999232"/>
            <a:ext cx="64008" cy="1627632"/>
          </a:xfrm>
          <a:prstGeom prst="rect">
            <a:avLst/>
          </a:prstGeom>
          <a:solidFill>
            <a:srgbClr val="5BB8F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200400"/>
            <a:ext cx="384048" cy="38404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40680" y="316382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Inefficient Data Collection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937760" y="3621024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DA5BE"/>
                </a:solidFill>
              </a:rPr>
              <a:t>Difficulty for utility providers to access meters physically increases operational costs.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1B8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2011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B8FFF"/>
                </a:solidFill>
              </a:rPr>
              <a:t>PROJECT OBJECTIVES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05840" y="5212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What We Aim to Achieve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321040" y="228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B8FFF"/>
                </a:solidFill>
              </a:rPr>
              <a:t>03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20040" y="1170432"/>
            <a:ext cx="8503920" cy="658368"/>
          </a:xfrm>
          <a:prstGeom prst="rect">
            <a:avLst/>
          </a:prstGeom>
          <a:solidFill>
            <a:srgbClr val="112244"/>
          </a:solidFill>
          <a:ln w="12700">
            <a:solidFill>
              <a:srgbClr val="00C9B1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1170432"/>
            <a:ext cx="64008" cy="658368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10" name="Shape 7"/>
          <p:cNvSpPr/>
          <p:nvPr/>
        </p:nvSpPr>
        <p:spPr>
          <a:xfrm>
            <a:off x="502920" y="1298448"/>
            <a:ext cx="402336" cy="402336"/>
          </a:xfrm>
          <a:prstGeom prst="ellipse">
            <a:avLst/>
          </a:prstGeom>
          <a:solidFill>
            <a:srgbClr val="00C9B1">
              <a:alpha val="2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B1"/>
                </a:solidFill>
              </a:rPr>
              <a:t>1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298448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1289304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F"/>
                </a:solidFill>
              </a:rPr>
              <a:t>Develop an IoT-enabled smart meter for accurate kWh calculation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320040" y="1938528"/>
            <a:ext cx="8503920" cy="658368"/>
          </a:xfrm>
          <a:prstGeom prst="rect">
            <a:avLst/>
          </a:prstGeom>
          <a:solidFill>
            <a:srgbClr val="112244"/>
          </a:solidFill>
          <a:ln w="12700">
            <a:solidFill>
              <a:srgbClr val="1B8FFF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" y="1938528"/>
            <a:ext cx="64008" cy="658368"/>
          </a:xfrm>
          <a:prstGeom prst="rect">
            <a:avLst/>
          </a:prstGeom>
          <a:solidFill>
            <a:srgbClr val="1B8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502920" y="2066544"/>
            <a:ext cx="402336" cy="402336"/>
          </a:xfrm>
          <a:prstGeom prst="ellipse">
            <a:avLst/>
          </a:prstGeom>
          <a:solidFill>
            <a:srgbClr val="1B8FFF">
              <a:alpha val="2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502920" y="20665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8FFF"/>
                </a:solidFill>
              </a:rPr>
              <a:t>2</a:t>
            </a:r>
            <a:endParaRPr lang="en-US" sz="13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066544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2057400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F"/>
                </a:solidFill>
              </a:rPr>
              <a:t>Provide Real-time Data Access via Firebase Cloud synchronization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320040" y="2706624"/>
            <a:ext cx="8503920" cy="658368"/>
          </a:xfrm>
          <a:prstGeom prst="rect">
            <a:avLst/>
          </a:prstGeom>
          <a:solidFill>
            <a:srgbClr val="112244"/>
          </a:solidFill>
          <a:ln w="12700">
            <a:solidFill>
              <a:srgbClr val="5BB8FF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20040" y="2706624"/>
            <a:ext cx="64008" cy="658368"/>
          </a:xfrm>
          <a:prstGeom prst="rect">
            <a:avLst/>
          </a:prstGeom>
          <a:solidFill>
            <a:srgbClr val="5BB8FF"/>
          </a:solidFill>
          <a:ln/>
        </p:spPr>
      </p:sp>
      <p:sp>
        <p:nvSpPr>
          <p:cNvPr id="22" name="Shape 17"/>
          <p:cNvSpPr/>
          <p:nvPr/>
        </p:nvSpPr>
        <p:spPr>
          <a:xfrm>
            <a:off x="502920" y="2834640"/>
            <a:ext cx="402336" cy="402336"/>
          </a:xfrm>
          <a:prstGeom prst="ellipse">
            <a:avLst/>
          </a:prstGeom>
          <a:solidFill>
            <a:srgbClr val="5BB8FF">
              <a:alpha val="2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502920" y="2834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B8FF"/>
                </a:solidFill>
              </a:rPr>
              <a:t>3</a:t>
            </a:r>
            <a:endParaRPr lang="en-US" sz="13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834640"/>
            <a:ext cx="402336" cy="40233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00200" y="2825496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F"/>
                </a:solidFill>
              </a:rPr>
              <a:t>Design a Mobile App (Flutter) and a Web Dashboard for end-users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320040" y="3474720"/>
            <a:ext cx="8503920" cy="658368"/>
          </a:xfrm>
          <a:prstGeom prst="rect">
            <a:avLst/>
          </a:prstGeom>
          <a:solidFill>
            <a:srgbClr val="112244"/>
          </a:solidFill>
          <a:ln w="12700">
            <a:solidFill>
              <a:srgbClr val="FFB347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0040" y="3474720"/>
            <a:ext cx="64008" cy="658368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28" name="Shape 22"/>
          <p:cNvSpPr/>
          <p:nvPr/>
        </p:nvSpPr>
        <p:spPr>
          <a:xfrm>
            <a:off x="502920" y="3602736"/>
            <a:ext cx="402336" cy="402336"/>
          </a:xfrm>
          <a:prstGeom prst="ellipse">
            <a:avLst/>
          </a:prstGeom>
          <a:solidFill>
            <a:srgbClr val="FFB347">
              <a:alpha val="20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502920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47"/>
                </a:solidFill>
              </a:rPr>
              <a:t>4</a:t>
            </a:r>
            <a:endParaRPr lang="en-US" sz="13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3602736"/>
            <a:ext cx="402336" cy="40233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600200" y="3593592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F"/>
                </a:solidFill>
              </a:rPr>
              <a:t>Automate Monthly Bill Generation and delivery via Email (PDF)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320040" y="4242816"/>
            <a:ext cx="8503920" cy="658368"/>
          </a:xfrm>
          <a:prstGeom prst="rect">
            <a:avLst/>
          </a:prstGeom>
          <a:solidFill>
            <a:srgbClr val="112244"/>
          </a:solidFill>
          <a:ln w="12700">
            <a:solidFill>
              <a:srgbClr val="FF6B6B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320040" y="4242816"/>
            <a:ext cx="64008" cy="65836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4" name="Shape 27"/>
          <p:cNvSpPr/>
          <p:nvPr/>
        </p:nvSpPr>
        <p:spPr>
          <a:xfrm>
            <a:off x="502920" y="4370832"/>
            <a:ext cx="402336" cy="402336"/>
          </a:xfrm>
          <a:prstGeom prst="ellipse">
            <a:avLst/>
          </a:prstGeom>
          <a:solidFill>
            <a:srgbClr val="FF6B6B">
              <a:alpha val="20000"/>
            </a:srgbClr>
          </a:solidFill>
          <a:ln/>
        </p:spPr>
      </p:sp>
      <p:sp>
        <p:nvSpPr>
          <p:cNvPr id="35" name="Text 28"/>
          <p:cNvSpPr/>
          <p:nvPr/>
        </p:nvSpPr>
        <p:spPr>
          <a:xfrm>
            <a:off x="502920" y="4370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</a:rPr>
              <a:t>5</a:t>
            </a:r>
            <a:endParaRPr lang="en-US" sz="13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4370832"/>
            <a:ext cx="402336" cy="40233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600200" y="4361688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F"/>
                </a:solidFill>
              </a:rPr>
              <a:t>Implement Safety Features: Overload Alerts and Remote Disconnection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C9B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2011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9B1"/>
                </a:solidFill>
              </a:rPr>
              <a:t>SYSTEM ARCHITECTURE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05840" y="5212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Hardware, Connectivity &amp; Software Stack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321040" y="228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C9B1"/>
                </a:solidFill>
              </a:rPr>
              <a:t>04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274320" y="1170432"/>
            <a:ext cx="2788920" cy="3749040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170432"/>
            <a:ext cx="2788920" cy="658368"/>
          </a:xfrm>
          <a:prstGeom prst="rect">
            <a:avLst/>
          </a:prstGeom>
          <a:solidFill>
            <a:srgbClr val="00C9B1">
              <a:alpha val="80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29844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96112" y="126187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Hardware Layer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8912" y="1993392"/>
            <a:ext cx="2450592" cy="512064"/>
          </a:xfrm>
          <a:prstGeom prst="rect">
            <a:avLst/>
          </a:prstGeom>
          <a:solidFill>
            <a:srgbClr val="0A1628"/>
          </a:solidFill>
          <a:ln w="12700">
            <a:solidFill>
              <a:srgbClr val="00C9B1">
                <a:alpha val="4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" y="2167128"/>
            <a:ext cx="164592" cy="164592"/>
          </a:xfrm>
          <a:prstGeom prst="ellipse">
            <a:avLst/>
          </a:prstGeom>
          <a:solidFill>
            <a:srgbClr val="00C9B1"/>
          </a:solidFill>
          <a:ln/>
        </p:spPr>
      </p:sp>
      <p:sp>
        <p:nvSpPr>
          <p:cNvPr id="14" name="Text 10"/>
          <p:cNvSpPr/>
          <p:nvPr/>
        </p:nvSpPr>
        <p:spPr>
          <a:xfrm>
            <a:off x="777240" y="206654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5F7"/>
                </a:solidFill>
              </a:rPr>
              <a:t>Arduino Microcontroller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38912" y="2651760"/>
            <a:ext cx="2450592" cy="512064"/>
          </a:xfrm>
          <a:prstGeom prst="rect">
            <a:avLst/>
          </a:prstGeom>
          <a:solidFill>
            <a:srgbClr val="0A1628"/>
          </a:solidFill>
          <a:ln w="12700">
            <a:solidFill>
              <a:srgbClr val="00C9B1">
                <a:alpha val="4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02920" y="2825496"/>
            <a:ext cx="164592" cy="164592"/>
          </a:xfrm>
          <a:prstGeom prst="ellipse">
            <a:avLst/>
          </a:prstGeom>
          <a:solidFill>
            <a:srgbClr val="00C9B1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272491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5F7"/>
                </a:solidFill>
              </a:rPr>
              <a:t>ESP32 Wi-Fi Module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38912" y="3310128"/>
            <a:ext cx="2450592" cy="512064"/>
          </a:xfrm>
          <a:prstGeom prst="rect">
            <a:avLst/>
          </a:prstGeom>
          <a:solidFill>
            <a:srgbClr val="0A1628"/>
          </a:solidFill>
          <a:ln w="12700">
            <a:solidFill>
              <a:srgbClr val="00C9B1">
                <a:alpha val="40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02920" y="3483864"/>
            <a:ext cx="164592" cy="164592"/>
          </a:xfrm>
          <a:prstGeom prst="ellipse">
            <a:avLst/>
          </a:prstGeom>
          <a:solidFill>
            <a:srgbClr val="00C9B1"/>
          </a:solidFill>
          <a:ln/>
        </p:spPr>
      </p:sp>
      <p:sp>
        <p:nvSpPr>
          <p:cNvPr id="20" name="Text 16"/>
          <p:cNvSpPr/>
          <p:nvPr/>
        </p:nvSpPr>
        <p:spPr>
          <a:xfrm>
            <a:off x="777240" y="338328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5F7"/>
                </a:solidFill>
              </a:rPr>
              <a:t>ZMPT101B — Voltage Sensor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38912" y="3968496"/>
            <a:ext cx="2450592" cy="512064"/>
          </a:xfrm>
          <a:prstGeom prst="rect">
            <a:avLst/>
          </a:prstGeom>
          <a:solidFill>
            <a:srgbClr val="0A1628"/>
          </a:solidFill>
          <a:ln w="12700">
            <a:solidFill>
              <a:srgbClr val="00C9B1">
                <a:alpha val="4000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02920" y="4142232"/>
            <a:ext cx="164592" cy="164592"/>
          </a:xfrm>
          <a:prstGeom prst="ellipse">
            <a:avLst/>
          </a:prstGeom>
          <a:solidFill>
            <a:srgbClr val="00C9B1"/>
          </a:solidFill>
          <a:ln/>
        </p:spPr>
      </p:sp>
      <p:sp>
        <p:nvSpPr>
          <p:cNvPr id="23" name="Text 19"/>
          <p:cNvSpPr/>
          <p:nvPr/>
        </p:nvSpPr>
        <p:spPr>
          <a:xfrm>
            <a:off x="777240" y="4041648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5F7"/>
                </a:solidFill>
              </a:rPr>
              <a:t>ACS712 — Current Sensor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218688" y="1170432"/>
            <a:ext cx="2788920" cy="3749040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218688" y="1170432"/>
            <a:ext cx="2788920" cy="658368"/>
          </a:xfrm>
          <a:prstGeom prst="rect">
            <a:avLst/>
          </a:prstGeom>
          <a:solidFill>
            <a:srgbClr val="1B8FFF">
              <a:alpha val="80000"/>
            </a:srgbClr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298448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840480" y="126187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Connectivity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3383280" y="1993392"/>
            <a:ext cx="2450592" cy="512064"/>
          </a:xfrm>
          <a:prstGeom prst="rect">
            <a:avLst/>
          </a:prstGeom>
          <a:solidFill>
            <a:srgbClr val="0A1628"/>
          </a:solidFill>
          <a:ln w="12700">
            <a:solidFill>
              <a:srgbClr val="1B8FFF">
                <a:alpha val="4000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3447288" y="2167128"/>
            <a:ext cx="164592" cy="164592"/>
          </a:xfrm>
          <a:prstGeom prst="ellipse">
            <a:avLst/>
          </a:prstGeom>
          <a:solidFill>
            <a:srgbClr val="1B8FFF"/>
          </a:solidFill>
          <a:ln/>
        </p:spPr>
      </p:sp>
      <p:sp>
        <p:nvSpPr>
          <p:cNvPr id="30" name="Text 25"/>
          <p:cNvSpPr/>
          <p:nvPr/>
        </p:nvSpPr>
        <p:spPr>
          <a:xfrm>
            <a:off x="3721608" y="206654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5F7"/>
                </a:solidFill>
              </a:rPr>
              <a:t>Wi-Fi (ESP32)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3383280" y="2651760"/>
            <a:ext cx="2450592" cy="512064"/>
          </a:xfrm>
          <a:prstGeom prst="rect">
            <a:avLst/>
          </a:prstGeom>
          <a:solidFill>
            <a:srgbClr val="0A1628"/>
          </a:solidFill>
          <a:ln w="12700">
            <a:solidFill>
              <a:srgbClr val="1B8FFF">
                <a:alpha val="40000"/>
              </a:srgbClr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3447288" y="2825496"/>
            <a:ext cx="164592" cy="164592"/>
          </a:xfrm>
          <a:prstGeom prst="ellipse">
            <a:avLst/>
          </a:prstGeom>
          <a:solidFill>
            <a:srgbClr val="1B8FFF"/>
          </a:solidFill>
          <a:ln/>
        </p:spPr>
      </p:sp>
      <p:sp>
        <p:nvSpPr>
          <p:cNvPr id="33" name="Text 28"/>
          <p:cNvSpPr/>
          <p:nvPr/>
        </p:nvSpPr>
        <p:spPr>
          <a:xfrm>
            <a:off x="3721608" y="272491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5F7"/>
                </a:solidFill>
              </a:rPr>
              <a:t>Cloud Synchronization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383280" y="3310128"/>
            <a:ext cx="2450592" cy="512064"/>
          </a:xfrm>
          <a:prstGeom prst="rect">
            <a:avLst/>
          </a:prstGeom>
          <a:solidFill>
            <a:srgbClr val="0A1628"/>
          </a:solidFill>
          <a:ln w="12700">
            <a:solidFill>
              <a:srgbClr val="1B8FFF">
                <a:alpha val="40000"/>
              </a:srgbClr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3447288" y="3483864"/>
            <a:ext cx="164592" cy="164592"/>
          </a:xfrm>
          <a:prstGeom prst="ellipse">
            <a:avLst/>
          </a:prstGeom>
          <a:solidFill>
            <a:srgbClr val="1B8FFF"/>
          </a:solidFill>
          <a:ln/>
        </p:spPr>
      </p:sp>
      <p:sp>
        <p:nvSpPr>
          <p:cNvPr id="36" name="Text 31"/>
          <p:cNvSpPr/>
          <p:nvPr/>
        </p:nvSpPr>
        <p:spPr>
          <a:xfrm>
            <a:off x="3721608" y="338328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5F7"/>
                </a:solidFill>
              </a:rPr>
              <a:t>Firebase Realtime DB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3383280" y="3968496"/>
            <a:ext cx="2450592" cy="512064"/>
          </a:xfrm>
          <a:prstGeom prst="rect">
            <a:avLst/>
          </a:prstGeom>
          <a:solidFill>
            <a:srgbClr val="0A1628"/>
          </a:solidFill>
          <a:ln w="12700">
            <a:solidFill>
              <a:srgbClr val="1B8FFF">
                <a:alpha val="40000"/>
              </a:srgbClr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3447288" y="4142232"/>
            <a:ext cx="164592" cy="164592"/>
          </a:xfrm>
          <a:prstGeom prst="ellipse">
            <a:avLst/>
          </a:prstGeom>
          <a:solidFill>
            <a:srgbClr val="1B8FFF"/>
          </a:solidFill>
          <a:ln/>
        </p:spPr>
      </p:sp>
      <p:sp>
        <p:nvSpPr>
          <p:cNvPr id="39" name="Text 34"/>
          <p:cNvSpPr/>
          <p:nvPr/>
        </p:nvSpPr>
        <p:spPr>
          <a:xfrm>
            <a:off x="3721608" y="4041648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5F7"/>
                </a:solidFill>
              </a:rPr>
              <a:t>Secure Data Transfer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6163056" y="1170432"/>
            <a:ext cx="2788920" cy="3749040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6163056" y="1170432"/>
            <a:ext cx="2788920" cy="658368"/>
          </a:xfrm>
          <a:prstGeom prst="rect">
            <a:avLst/>
          </a:prstGeom>
          <a:solidFill>
            <a:srgbClr val="FFB347">
              <a:alpha val="80000"/>
            </a:srgbClr>
          </a:solidFill>
          <a:ln/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298448"/>
            <a:ext cx="365760" cy="365760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6784848" y="126187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Software Stack</a:t>
            </a:r>
            <a:endParaRPr lang="en-US" sz="1300" dirty="0"/>
          </a:p>
        </p:txBody>
      </p:sp>
      <p:sp>
        <p:nvSpPr>
          <p:cNvPr id="44" name="Shape 38"/>
          <p:cNvSpPr/>
          <p:nvPr/>
        </p:nvSpPr>
        <p:spPr>
          <a:xfrm>
            <a:off x="6327648" y="1993392"/>
            <a:ext cx="2450592" cy="512064"/>
          </a:xfrm>
          <a:prstGeom prst="rect">
            <a:avLst/>
          </a:prstGeom>
          <a:solidFill>
            <a:srgbClr val="0A1628"/>
          </a:solidFill>
          <a:ln w="12700">
            <a:solidFill>
              <a:srgbClr val="FFB347">
                <a:alpha val="40000"/>
              </a:srgbClr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6391656" y="2167128"/>
            <a:ext cx="164592" cy="164592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46" name="Text 40"/>
          <p:cNvSpPr/>
          <p:nvPr/>
        </p:nvSpPr>
        <p:spPr>
          <a:xfrm>
            <a:off x="6665976" y="206654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5F7"/>
                </a:solidFill>
              </a:rPr>
              <a:t>Flutter Mobile App</a:t>
            </a:r>
            <a:endParaRPr lang="en-US" sz="1000" dirty="0"/>
          </a:p>
        </p:txBody>
      </p:sp>
      <p:sp>
        <p:nvSpPr>
          <p:cNvPr id="47" name="Shape 41"/>
          <p:cNvSpPr/>
          <p:nvPr/>
        </p:nvSpPr>
        <p:spPr>
          <a:xfrm>
            <a:off x="6327648" y="2651760"/>
            <a:ext cx="2450592" cy="512064"/>
          </a:xfrm>
          <a:prstGeom prst="rect">
            <a:avLst/>
          </a:prstGeom>
          <a:solidFill>
            <a:srgbClr val="0A1628"/>
          </a:solidFill>
          <a:ln w="12700">
            <a:solidFill>
              <a:srgbClr val="FFB347">
                <a:alpha val="40000"/>
              </a:srgbClr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6391656" y="2825496"/>
            <a:ext cx="164592" cy="164592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49" name="Text 43"/>
          <p:cNvSpPr/>
          <p:nvPr/>
        </p:nvSpPr>
        <p:spPr>
          <a:xfrm>
            <a:off x="6665976" y="272491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5F7"/>
                </a:solidFill>
              </a:rPr>
              <a:t>Web Dashboard (VS Code)</a:t>
            </a:r>
            <a:endParaRPr lang="en-US" sz="1000" dirty="0"/>
          </a:p>
        </p:txBody>
      </p:sp>
      <p:sp>
        <p:nvSpPr>
          <p:cNvPr id="50" name="Shape 44"/>
          <p:cNvSpPr/>
          <p:nvPr/>
        </p:nvSpPr>
        <p:spPr>
          <a:xfrm>
            <a:off x="6327648" y="3310128"/>
            <a:ext cx="2450592" cy="512064"/>
          </a:xfrm>
          <a:prstGeom prst="rect">
            <a:avLst/>
          </a:prstGeom>
          <a:solidFill>
            <a:srgbClr val="0A1628"/>
          </a:solidFill>
          <a:ln w="12700">
            <a:solidFill>
              <a:srgbClr val="FFB347">
                <a:alpha val="40000"/>
              </a:srgbClr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6391656" y="3483864"/>
            <a:ext cx="164592" cy="164592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52" name="Text 46"/>
          <p:cNvSpPr/>
          <p:nvPr/>
        </p:nvSpPr>
        <p:spPr>
          <a:xfrm>
            <a:off x="6665976" y="338328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5F7"/>
                </a:solidFill>
              </a:rPr>
              <a:t>Firebase Backend</a:t>
            </a:r>
            <a:endParaRPr lang="en-US" sz="1000" dirty="0"/>
          </a:p>
        </p:txBody>
      </p:sp>
      <p:sp>
        <p:nvSpPr>
          <p:cNvPr id="53" name="Shape 47"/>
          <p:cNvSpPr/>
          <p:nvPr/>
        </p:nvSpPr>
        <p:spPr>
          <a:xfrm>
            <a:off x="6327648" y="3968496"/>
            <a:ext cx="2450592" cy="512064"/>
          </a:xfrm>
          <a:prstGeom prst="rect">
            <a:avLst/>
          </a:prstGeom>
          <a:solidFill>
            <a:srgbClr val="0A1628"/>
          </a:solidFill>
          <a:ln w="12700">
            <a:solidFill>
              <a:srgbClr val="FFB347">
                <a:alpha val="40000"/>
              </a:srgbClr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6391656" y="4142232"/>
            <a:ext cx="164592" cy="164592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55" name="Text 49"/>
          <p:cNvSpPr/>
          <p:nvPr/>
        </p:nvSpPr>
        <p:spPr>
          <a:xfrm>
            <a:off x="6665976" y="4041648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5F7"/>
                </a:solidFill>
              </a:rPr>
              <a:t>Arduino IDE (C++ Firmware)</a:t>
            </a:r>
            <a:endParaRPr lang="en-US" sz="1000" dirty="0"/>
          </a:p>
        </p:txBody>
      </p:sp>
      <p:sp>
        <p:nvSpPr>
          <p:cNvPr id="56" name="Text 50"/>
          <p:cNvSpPr/>
          <p:nvPr/>
        </p:nvSpPr>
        <p:spPr>
          <a:xfrm>
            <a:off x="2834640" y="283464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B1"/>
                </a:solidFill>
              </a:rPr>
              <a:t>→</a:t>
            </a:r>
            <a:endParaRPr lang="en-US" sz="2200" dirty="0"/>
          </a:p>
        </p:txBody>
      </p:sp>
      <p:sp>
        <p:nvSpPr>
          <p:cNvPr id="57" name="Text 51"/>
          <p:cNvSpPr/>
          <p:nvPr/>
        </p:nvSpPr>
        <p:spPr>
          <a:xfrm>
            <a:off x="5779008" y="283464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B1"/>
                </a:solidFill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1B8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2011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B8FFF"/>
                </a:solidFill>
              </a:rPr>
              <a:t>KEY FEATURES &amp; FUNCTIONALITY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05840" y="5212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What the System Can Do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321040" y="228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B8FFF"/>
                </a:solidFill>
              </a:rPr>
              <a:t>05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228600" y="1170432"/>
            <a:ext cx="2633472" cy="1792224"/>
          </a:xfrm>
          <a:prstGeom prst="rect">
            <a:avLst/>
          </a:prstGeom>
          <a:solidFill>
            <a:srgbClr val="112244"/>
          </a:solidFill>
          <a:ln w="12700">
            <a:solidFill>
              <a:srgbClr val="00C9B1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9768" y="1371600"/>
            <a:ext cx="475488" cy="475488"/>
          </a:xfrm>
          <a:prstGeom prst="ellipse">
            <a:avLst/>
          </a:prstGeom>
          <a:solidFill>
            <a:srgbClr val="00C9B1">
              <a:alpha val="25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138988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3192" y="193852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Live Dashboard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56616" y="230428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DA5BE"/>
                </a:solidFill>
              </a:rPr>
              <a:t>Instant real-time display of Voltage (V), Current (I), and Wattage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154680" y="1170432"/>
            <a:ext cx="2633472" cy="1792224"/>
          </a:xfrm>
          <a:prstGeom prst="rect">
            <a:avLst/>
          </a:prstGeom>
          <a:solidFill>
            <a:srgbClr val="112244"/>
          </a:solidFill>
          <a:ln w="12700">
            <a:solidFill>
              <a:srgbClr val="1B8F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355848" y="1371600"/>
            <a:ext cx="475488" cy="475488"/>
          </a:xfrm>
          <a:prstGeom prst="ellipse">
            <a:avLst/>
          </a:prstGeom>
          <a:solidFill>
            <a:srgbClr val="1B8FFF">
              <a:alpha val="25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4136" y="138988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19272" y="193852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Usage Analytics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282696" y="230428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DA5BE"/>
                </a:solidFill>
              </a:rPr>
              <a:t>Graphical history and trends of energy consumption over time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080760" y="1170432"/>
            <a:ext cx="2633472" cy="1792224"/>
          </a:xfrm>
          <a:prstGeom prst="rect">
            <a:avLst/>
          </a:prstGeom>
          <a:solidFill>
            <a:srgbClr val="112244"/>
          </a:solidFill>
          <a:ln w="12700">
            <a:solidFill>
              <a:srgbClr val="FFB347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281928" y="1371600"/>
            <a:ext cx="475488" cy="475488"/>
          </a:xfrm>
          <a:prstGeom prst="ellipse">
            <a:avLst/>
          </a:prstGeom>
          <a:solidFill>
            <a:srgbClr val="FFB347">
              <a:alpha val="25000"/>
            </a:srgbClr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216" y="1389888"/>
            <a:ext cx="420624" cy="4206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45352" y="193852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Smart Billing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208776" y="230428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DA5BE"/>
                </a:solidFill>
              </a:rPr>
              <a:t>Automatic bill calculation based on configured tariff rates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1691640" y="3163824"/>
            <a:ext cx="2633472" cy="1792224"/>
          </a:xfrm>
          <a:prstGeom prst="rect">
            <a:avLst/>
          </a:prstGeom>
          <a:solidFill>
            <a:srgbClr val="112244"/>
          </a:solidFill>
          <a:ln w="12700">
            <a:solidFill>
              <a:srgbClr val="FF6B6B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1892808" y="3364992"/>
            <a:ext cx="475488" cy="475488"/>
          </a:xfrm>
          <a:prstGeom prst="ellipse">
            <a:avLst/>
          </a:prstGeom>
          <a:solidFill>
            <a:srgbClr val="FF6B6B">
              <a:alpha val="25000"/>
            </a:srgbClr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1096" y="3383280"/>
            <a:ext cx="420624" cy="42062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856232" y="393192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Cloud Notifications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1819656" y="42976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DA5BE"/>
                </a:solidFill>
              </a:rPr>
              <a:t>Instant alerts pushed to users for high energy usage events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4617720" y="3163824"/>
            <a:ext cx="2633472" cy="1792224"/>
          </a:xfrm>
          <a:prstGeom prst="rect">
            <a:avLst/>
          </a:prstGeom>
          <a:solidFill>
            <a:srgbClr val="112244"/>
          </a:solidFill>
          <a:ln w="12700">
            <a:solidFill>
              <a:srgbClr val="5BB8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818888" y="3364992"/>
            <a:ext cx="475488" cy="475488"/>
          </a:xfrm>
          <a:prstGeom prst="ellipse">
            <a:avLst/>
          </a:prstGeom>
          <a:solidFill>
            <a:srgbClr val="5BB8FF">
              <a:alpha val="25000"/>
            </a:srgbClr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7176" y="3383280"/>
            <a:ext cx="420624" cy="42062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782312" y="393192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Automated Emailing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4745736" y="42976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DA5BE"/>
                </a:solidFill>
              </a:rPr>
              <a:t>Digital PDF bills sent directly to the consumer's inbox monthly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C9B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2011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9B1"/>
                </a:solidFill>
              </a:rPr>
              <a:t>WORK DISTRIBUTION &amp; TIMELINE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05840" y="5212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Team Responsibilities &amp; Schedule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321040" y="228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C9B1"/>
                </a:solidFill>
              </a:rPr>
              <a:t>06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017520" y="1115568"/>
            <a:ext cx="580644" cy="376732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6"/>
          <p:cNvSpPr/>
          <p:nvPr/>
        </p:nvSpPr>
        <p:spPr>
          <a:xfrm>
            <a:off x="3017520" y="1124712"/>
            <a:ext cx="5806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B1"/>
                </a:solidFill>
              </a:rPr>
              <a:t>Apr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017520" y="1371600"/>
            <a:ext cx="5806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DA5BE"/>
                </a:solidFill>
              </a:rPr>
              <a:t>2025</a:t>
            </a:r>
            <a:endParaRPr lang="en-US" sz="650" dirty="0"/>
          </a:p>
        </p:txBody>
      </p:sp>
      <p:sp>
        <p:nvSpPr>
          <p:cNvPr id="11" name="Shape 8"/>
          <p:cNvSpPr/>
          <p:nvPr/>
        </p:nvSpPr>
        <p:spPr>
          <a:xfrm>
            <a:off x="3598164" y="1115568"/>
            <a:ext cx="580644" cy="3767328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12" name="Text 9"/>
          <p:cNvSpPr/>
          <p:nvPr/>
        </p:nvSpPr>
        <p:spPr>
          <a:xfrm>
            <a:off x="3598164" y="1124712"/>
            <a:ext cx="5806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B1"/>
                </a:solidFill>
              </a:rPr>
              <a:t>May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598164" y="1371600"/>
            <a:ext cx="5806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DA5BE"/>
                </a:solidFill>
              </a:rPr>
              <a:t>2025</a:t>
            </a:r>
            <a:endParaRPr lang="en-US" sz="650" dirty="0"/>
          </a:p>
        </p:txBody>
      </p:sp>
      <p:sp>
        <p:nvSpPr>
          <p:cNvPr id="14" name="Shape 11"/>
          <p:cNvSpPr/>
          <p:nvPr/>
        </p:nvSpPr>
        <p:spPr>
          <a:xfrm>
            <a:off x="3598164" y="1115568"/>
            <a:ext cx="10973" cy="3767328"/>
          </a:xfrm>
          <a:prstGeom prst="rect">
            <a:avLst/>
          </a:prstGeom>
          <a:solidFill>
            <a:srgbClr val="00C9B1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178808" y="1115568"/>
            <a:ext cx="580644" cy="376732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6" name="Text 13"/>
          <p:cNvSpPr/>
          <p:nvPr/>
        </p:nvSpPr>
        <p:spPr>
          <a:xfrm>
            <a:off x="4178808" y="1124712"/>
            <a:ext cx="5806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B1"/>
                </a:solidFill>
              </a:rPr>
              <a:t>Jun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178808" y="1371600"/>
            <a:ext cx="5806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DA5BE"/>
                </a:solidFill>
              </a:rPr>
              <a:t>2025</a:t>
            </a:r>
            <a:endParaRPr lang="en-US" sz="650" dirty="0"/>
          </a:p>
        </p:txBody>
      </p:sp>
      <p:sp>
        <p:nvSpPr>
          <p:cNvPr id="18" name="Shape 15"/>
          <p:cNvSpPr/>
          <p:nvPr/>
        </p:nvSpPr>
        <p:spPr>
          <a:xfrm>
            <a:off x="4178808" y="1115568"/>
            <a:ext cx="10973" cy="3767328"/>
          </a:xfrm>
          <a:prstGeom prst="rect">
            <a:avLst/>
          </a:prstGeom>
          <a:solidFill>
            <a:srgbClr val="00C9B1">
              <a:alpha val="2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4759452" y="1115568"/>
            <a:ext cx="580644" cy="3767328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20" name="Text 17"/>
          <p:cNvSpPr/>
          <p:nvPr/>
        </p:nvSpPr>
        <p:spPr>
          <a:xfrm>
            <a:off x="4759452" y="1124712"/>
            <a:ext cx="5806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B1"/>
                </a:solidFill>
              </a:rPr>
              <a:t>Jul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759452" y="1371600"/>
            <a:ext cx="5806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DA5BE"/>
                </a:solidFill>
              </a:rPr>
              <a:t>2025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4759452" y="1115568"/>
            <a:ext cx="10973" cy="3767328"/>
          </a:xfrm>
          <a:prstGeom prst="rect">
            <a:avLst/>
          </a:prstGeom>
          <a:solidFill>
            <a:srgbClr val="00C9B1">
              <a:alpha val="20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5340096" y="1115568"/>
            <a:ext cx="580644" cy="376732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4" name="Text 21"/>
          <p:cNvSpPr/>
          <p:nvPr/>
        </p:nvSpPr>
        <p:spPr>
          <a:xfrm>
            <a:off x="5340096" y="1124712"/>
            <a:ext cx="5806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B1"/>
                </a:solidFill>
              </a:rPr>
              <a:t>Aug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340096" y="1371600"/>
            <a:ext cx="5806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DA5BE"/>
                </a:solidFill>
              </a:rPr>
              <a:t>2025</a:t>
            </a:r>
            <a:endParaRPr lang="en-US" sz="650" dirty="0"/>
          </a:p>
        </p:txBody>
      </p:sp>
      <p:sp>
        <p:nvSpPr>
          <p:cNvPr id="26" name="Shape 23"/>
          <p:cNvSpPr/>
          <p:nvPr/>
        </p:nvSpPr>
        <p:spPr>
          <a:xfrm>
            <a:off x="5340096" y="1115568"/>
            <a:ext cx="10973" cy="3767328"/>
          </a:xfrm>
          <a:prstGeom prst="rect">
            <a:avLst/>
          </a:prstGeom>
          <a:solidFill>
            <a:srgbClr val="00C9B1">
              <a:alpha val="20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5920740" y="1115568"/>
            <a:ext cx="580644" cy="3767328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28" name="Text 25"/>
          <p:cNvSpPr/>
          <p:nvPr/>
        </p:nvSpPr>
        <p:spPr>
          <a:xfrm>
            <a:off x="5920740" y="1124712"/>
            <a:ext cx="5806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B1"/>
                </a:solidFill>
              </a:rPr>
              <a:t>Sep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920740" y="1371600"/>
            <a:ext cx="5806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DA5BE"/>
                </a:solidFill>
              </a:rPr>
              <a:t>2025</a:t>
            </a:r>
            <a:endParaRPr lang="en-US" sz="650" dirty="0"/>
          </a:p>
        </p:txBody>
      </p:sp>
      <p:sp>
        <p:nvSpPr>
          <p:cNvPr id="30" name="Shape 27"/>
          <p:cNvSpPr/>
          <p:nvPr/>
        </p:nvSpPr>
        <p:spPr>
          <a:xfrm>
            <a:off x="5920740" y="1115568"/>
            <a:ext cx="10973" cy="3767328"/>
          </a:xfrm>
          <a:prstGeom prst="rect">
            <a:avLst/>
          </a:prstGeom>
          <a:solidFill>
            <a:srgbClr val="00C9B1">
              <a:alpha val="20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6501384" y="1115568"/>
            <a:ext cx="580644" cy="376732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2" name="Text 29"/>
          <p:cNvSpPr/>
          <p:nvPr/>
        </p:nvSpPr>
        <p:spPr>
          <a:xfrm>
            <a:off x="6501384" y="1124712"/>
            <a:ext cx="5806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B1"/>
                </a:solidFill>
              </a:rPr>
              <a:t>Oct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501384" y="1371600"/>
            <a:ext cx="5806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DA5BE"/>
                </a:solidFill>
              </a:rPr>
              <a:t>2025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6501384" y="1115568"/>
            <a:ext cx="10973" cy="3767328"/>
          </a:xfrm>
          <a:prstGeom prst="rect">
            <a:avLst/>
          </a:prstGeom>
          <a:solidFill>
            <a:srgbClr val="00C9B1">
              <a:alpha val="20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7082028" y="1115568"/>
            <a:ext cx="580644" cy="3767328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6" name="Text 33"/>
          <p:cNvSpPr/>
          <p:nvPr/>
        </p:nvSpPr>
        <p:spPr>
          <a:xfrm>
            <a:off x="7082028" y="1124712"/>
            <a:ext cx="5806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B1"/>
                </a:solidFill>
              </a:rPr>
              <a:t>Nov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082028" y="1371600"/>
            <a:ext cx="5806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DA5BE"/>
                </a:solidFill>
              </a:rPr>
              <a:t>2025</a:t>
            </a:r>
            <a:endParaRPr lang="en-US" sz="650" dirty="0"/>
          </a:p>
        </p:txBody>
      </p:sp>
      <p:sp>
        <p:nvSpPr>
          <p:cNvPr id="38" name="Shape 35"/>
          <p:cNvSpPr/>
          <p:nvPr/>
        </p:nvSpPr>
        <p:spPr>
          <a:xfrm>
            <a:off x="7082028" y="1115568"/>
            <a:ext cx="10973" cy="3767328"/>
          </a:xfrm>
          <a:prstGeom prst="rect">
            <a:avLst/>
          </a:prstGeom>
          <a:solidFill>
            <a:srgbClr val="00C9B1">
              <a:alpha val="20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7662672" y="1115568"/>
            <a:ext cx="580644" cy="376732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0" name="Text 37"/>
          <p:cNvSpPr/>
          <p:nvPr/>
        </p:nvSpPr>
        <p:spPr>
          <a:xfrm>
            <a:off x="7662672" y="1124712"/>
            <a:ext cx="5806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B1"/>
                </a:solidFill>
              </a:rPr>
              <a:t>Dec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7662672" y="1371600"/>
            <a:ext cx="5806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DA5BE"/>
                </a:solidFill>
              </a:rPr>
              <a:t>2025</a:t>
            </a:r>
            <a:endParaRPr lang="en-US" sz="650" dirty="0"/>
          </a:p>
        </p:txBody>
      </p:sp>
      <p:sp>
        <p:nvSpPr>
          <p:cNvPr id="42" name="Shape 39"/>
          <p:cNvSpPr/>
          <p:nvPr/>
        </p:nvSpPr>
        <p:spPr>
          <a:xfrm>
            <a:off x="7662672" y="1115568"/>
            <a:ext cx="10973" cy="3767328"/>
          </a:xfrm>
          <a:prstGeom prst="rect">
            <a:avLst/>
          </a:prstGeom>
          <a:solidFill>
            <a:srgbClr val="00C9B1">
              <a:alpha val="20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8243316" y="1115568"/>
            <a:ext cx="580644" cy="3767328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44" name="Text 41"/>
          <p:cNvSpPr/>
          <p:nvPr/>
        </p:nvSpPr>
        <p:spPr>
          <a:xfrm>
            <a:off x="8243316" y="1124712"/>
            <a:ext cx="5806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B1"/>
                </a:solidFill>
              </a:rPr>
              <a:t>Jan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8243316" y="1371600"/>
            <a:ext cx="5806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DA5BE"/>
                </a:solidFill>
              </a:rPr>
              <a:t>2026</a:t>
            </a:r>
            <a:endParaRPr lang="en-US" sz="650" dirty="0"/>
          </a:p>
        </p:txBody>
      </p:sp>
      <p:sp>
        <p:nvSpPr>
          <p:cNvPr id="46" name="Shape 43"/>
          <p:cNvSpPr/>
          <p:nvPr/>
        </p:nvSpPr>
        <p:spPr>
          <a:xfrm>
            <a:off x="8243316" y="1115568"/>
            <a:ext cx="10973" cy="3767328"/>
          </a:xfrm>
          <a:prstGeom prst="rect">
            <a:avLst/>
          </a:prstGeom>
          <a:solidFill>
            <a:srgbClr val="00C9B1">
              <a:alpha val="20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320040" y="1591056"/>
            <a:ext cx="2697480" cy="621792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48" name="Shape 45"/>
          <p:cNvSpPr/>
          <p:nvPr/>
        </p:nvSpPr>
        <p:spPr>
          <a:xfrm>
            <a:off x="320040" y="1591056"/>
            <a:ext cx="64008" cy="621792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49" name="Text 46"/>
          <p:cNvSpPr/>
          <p:nvPr/>
        </p:nvSpPr>
        <p:spPr>
          <a:xfrm>
            <a:off x="502920" y="16276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Hardware &amp; Firmware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02920" y="19385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A5BE"/>
                </a:solidFill>
              </a:rPr>
              <a:t>Kodithuwakku &amp; Imesh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3044952" y="1746504"/>
            <a:ext cx="1161288" cy="36576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3017520" y="1719072"/>
            <a:ext cx="1161288" cy="365760"/>
          </a:xfrm>
          <a:prstGeom prst="rect">
            <a:avLst/>
          </a:prstGeom>
          <a:solidFill>
            <a:srgbClr val="00C9B1">
              <a:alpha val="82000"/>
            </a:srgbClr>
          </a:solidFill>
          <a:ln w="19050">
            <a:solidFill>
              <a:srgbClr val="00C9B1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3072384" y="1719072"/>
            <a:ext cx="1088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Apr – May 2025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320040" y="2249424"/>
            <a:ext cx="2697480" cy="621792"/>
          </a:xfrm>
          <a:prstGeom prst="rect">
            <a:avLst/>
          </a:prstGeom>
          <a:solidFill>
            <a:srgbClr val="112244"/>
          </a:solidFill>
          <a:ln/>
        </p:spPr>
      </p:sp>
      <p:sp>
        <p:nvSpPr>
          <p:cNvPr id="55" name="Shape 52"/>
          <p:cNvSpPr/>
          <p:nvPr/>
        </p:nvSpPr>
        <p:spPr>
          <a:xfrm>
            <a:off x="320040" y="2249424"/>
            <a:ext cx="64008" cy="621792"/>
          </a:xfrm>
          <a:prstGeom prst="rect">
            <a:avLst/>
          </a:prstGeom>
          <a:solidFill>
            <a:srgbClr val="1B8FFF"/>
          </a:solidFill>
          <a:ln/>
        </p:spPr>
      </p:sp>
      <p:sp>
        <p:nvSpPr>
          <p:cNvPr id="56" name="Text 53"/>
          <p:cNvSpPr/>
          <p:nvPr/>
        </p:nvSpPr>
        <p:spPr>
          <a:xfrm>
            <a:off x="502920" y="22860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Circuit &amp; Calibration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502920" y="25968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A5BE"/>
                </a:solidFill>
              </a:rPr>
              <a:t>Kodithuwakku &amp; Imesh</a:t>
            </a: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3915918" y="2404872"/>
            <a:ext cx="1161288" cy="36576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3888486" y="2377440"/>
            <a:ext cx="1161288" cy="365760"/>
          </a:xfrm>
          <a:prstGeom prst="rect">
            <a:avLst/>
          </a:prstGeom>
          <a:solidFill>
            <a:srgbClr val="1B8FFF">
              <a:alpha val="82000"/>
            </a:srgbClr>
          </a:solidFill>
          <a:ln w="19050">
            <a:solidFill>
              <a:srgbClr val="1B8FFF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3943350" y="2377440"/>
            <a:ext cx="1088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May – Jul 2025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320040" y="2907792"/>
            <a:ext cx="2697480" cy="621792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62" name="Shape 59"/>
          <p:cNvSpPr/>
          <p:nvPr/>
        </p:nvSpPr>
        <p:spPr>
          <a:xfrm>
            <a:off x="320040" y="2907792"/>
            <a:ext cx="64008" cy="621792"/>
          </a:xfrm>
          <a:prstGeom prst="rect">
            <a:avLst/>
          </a:prstGeom>
          <a:solidFill>
            <a:srgbClr val="5BB8FF"/>
          </a:solidFill>
          <a:ln/>
        </p:spPr>
      </p:sp>
      <p:sp>
        <p:nvSpPr>
          <p:cNvPr id="63" name="Text 60"/>
          <p:cNvSpPr/>
          <p:nvPr/>
        </p:nvSpPr>
        <p:spPr>
          <a:xfrm>
            <a:off x="502920" y="29443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Mobile &amp; Web Apps</a:t>
            </a: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502920" y="32552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A5BE"/>
                </a:solidFill>
              </a:rPr>
              <a:t>Kaveesh, Nimesh &amp; Tharushi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4786884" y="3063240"/>
            <a:ext cx="2322576" cy="36576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4759452" y="3035808"/>
            <a:ext cx="2322576" cy="365760"/>
          </a:xfrm>
          <a:prstGeom prst="rect">
            <a:avLst/>
          </a:prstGeom>
          <a:solidFill>
            <a:srgbClr val="5BB8FF">
              <a:alpha val="82000"/>
            </a:srgbClr>
          </a:solidFill>
          <a:ln w="19050">
            <a:solidFill>
              <a:srgbClr val="5BB8FF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814316" y="303580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Jul – Oct 2025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320040" y="3566160"/>
            <a:ext cx="2697480" cy="621792"/>
          </a:xfrm>
          <a:prstGeom prst="rect">
            <a:avLst/>
          </a:prstGeom>
          <a:solidFill>
            <a:srgbClr val="112244"/>
          </a:solidFill>
          <a:ln/>
        </p:spPr>
      </p:sp>
      <p:sp>
        <p:nvSpPr>
          <p:cNvPr id="69" name="Shape 66"/>
          <p:cNvSpPr/>
          <p:nvPr/>
        </p:nvSpPr>
        <p:spPr>
          <a:xfrm>
            <a:off x="320040" y="3566160"/>
            <a:ext cx="64008" cy="621792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70" name="Text 67"/>
          <p:cNvSpPr/>
          <p:nvPr/>
        </p:nvSpPr>
        <p:spPr>
          <a:xfrm>
            <a:off x="502920" y="36027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DB &amp; Integration</a:t>
            </a:r>
            <a:endParaRPr lang="en-US" sz="1000" dirty="0"/>
          </a:p>
        </p:txBody>
      </p:sp>
      <p:sp>
        <p:nvSpPr>
          <p:cNvPr id="71" name="Text 68"/>
          <p:cNvSpPr/>
          <p:nvPr/>
        </p:nvSpPr>
        <p:spPr>
          <a:xfrm>
            <a:off x="502920" y="39136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A5BE"/>
                </a:solidFill>
              </a:rPr>
              <a:t>Kodithuwakku &amp; Kaveesh</a:t>
            </a:r>
            <a:endParaRPr lang="en-US" sz="800" dirty="0"/>
          </a:p>
        </p:txBody>
      </p:sp>
      <p:sp>
        <p:nvSpPr>
          <p:cNvPr id="72" name="Shape 69"/>
          <p:cNvSpPr/>
          <p:nvPr/>
        </p:nvSpPr>
        <p:spPr>
          <a:xfrm>
            <a:off x="6528816" y="3721608"/>
            <a:ext cx="1161288" cy="36576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6501384" y="3694176"/>
            <a:ext cx="1161288" cy="365760"/>
          </a:xfrm>
          <a:prstGeom prst="rect">
            <a:avLst/>
          </a:prstGeom>
          <a:solidFill>
            <a:srgbClr val="FFB347">
              <a:alpha val="82000"/>
            </a:srgbClr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6556248" y="3694176"/>
            <a:ext cx="1088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Oct – Nov 2025</a:t>
            </a:r>
            <a:endParaRPr lang="en-US" sz="850" dirty="0"/>
          </a:p>
        </p:txBody>
      </p:sp>
      <p:sp>
        <p:nvSpPr>
          <p:cNvPr id="75" name="Shape 72"/>
          <p:cNvSpPr/>
          <p:nvPr/>
        </p:nvSpPr>
        <p:spPr>
          <a:xfrm>
            <a:off x="320040" y="4224528"/>
            <a:ext cx="2697480" cy="621792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76" name="Shape 73"/>
          <p:cNvSpPr/>
          <p:nvPr/>
        </p:nvSpPr>
        <p:spPr>
          <a:xfrm>
            <a:off x="320040" y="4224528"/>
            <a:ext cx="64008" cy="621792"/>
          </a:xfrm>
          <a:prstGeom prst="rect">
            <a:avLst/>
          </a:prstGeom>
          <a:solidFill>
            <a:srgbClr val="A0E879"/>
          </a:solidFill>
          <a:ln/>
        </p:spPr>
      </p:sp>
      <p:sp>
        <p:nvSpPr>
          <p:cNvPr id="77" name="Text 74"/>
          <p:cNvSpPr/>
          <p:nvPr/>
        </p:nvSpPr>
        <p:spPr>
          <a:xfrm>
            <a:off x="502920" y="426110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Final Documentation</a:t>
            </a:r>
            <a:endParaRPr lang="en-US" sz="1000" dirty="0"/>
          </a:p>
        </p:txBody>
      </p:sp>
      <p:sp>
        <p:nvSpPr>
          <p:cNvPr id="78" name="Text 75"/>
          <p:cNvSpPr/>
          <p:nvPr/>
        </p:nvSpPr>
        <p:spPr>
          <a:xfrm>
            <a:off x="502920" y="45720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A5BE"/>
                </a:solidFill>
              </a:rPr>
              <a:t>Entire Group</a:t>
            </a:r>
            <a:endParaRPr lang="en-US" sz="800" dirty="0"/>
          </a:p>
        </p:txBody>
      </p:sp>
      <p:sp>
        <p:nvSpPr>
          <p:cNvPr id="79" name="Shape 76"/>
          <p:cNvSpPr/>
          <p:nvPr/>
        </p:nvSpPr>
        <p:spPr>
          <a:xfrm>
            <a:off x="7690104" y="4379976"/>
            <a:ext cx="1161288" cy="36576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sp>
        <p:nvSpPr>
          <p:cNvPr id="80" name="Shape 77"/>
          <p:cNvSpPr/>
          <p:nvPr/>
        </p:nvSpPr>
        <p:spPr>
          <a:xfrm>
            <a:off x="7662672" y="4352544"/>
            <a:ext cx="1161288" cy="365760"/>
          </a:xfrm>
          <a:prstGeom prst="rect">
            <a:avLst/>
          </a:prstGeom>
          <a:solidFill>
            <a:srgbClr val="A0E879">
              <a:alpha val="82000"/>
            </a:srgbClr>
          </a:solidFill>
          <a:ln w="19050">
            <a:solidFill>
              <a:srgbClr val="A0E879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7717536" y="4352544"/>
            <a:ext cx="1088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Dec 2025 – Jan 2026</a:t>
            </a:r>
            <a:endParaRPr lang="en-US" sz="850" dirty="0"/>
          </a:p>
        </p:txBody>
      </p:sp>
      <p:sp>
        <p:nvSpPr>
          <p:cNvPr id="82" name="Shape 79"/>
          <p:cNvSpPr/>
          <p:nvPr/>
        </p:nvSpPr>
        <p:spPr>
          <a:xfrm>
            <a:off x="320040" y="4846320"/>
            <a:ext cx="8503920" cy="27432"/>
          </a:xfrm>
          <a:prstGeom prst="rect">
            <a:avLst/>
          </a:prstGeom>
          <a:solidFill>
            <a:srgbClr val="00C9B1">
              <a:alpha val="45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0" y="0"/>
            <a:ext cx="45720" cy="5143500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3200400"/>
            <a:ext cx="3657600" cy="3657600"/>
          </a:xfrm>
          <a:prstGeom prst="ellipse">
            <a:avLst/>
          </a:prstGeom>
          <a:solidFill>
            <a:srgbClr val="00C9B1">
              <a:alpha val="8000"/>
            </a:srgbClr>
          </a:solidFill>
          <a:ln w="12700">
            <a:solidFill>
              <a:srgbClr val="00C9B1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9B1"/>
                </a:solidFill>
              </a:rPr>
              <a:t>CONCLUSION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75488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4754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Bridging the Gap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11480" y="1005840"/>
            <a:ext cx="3474720" cy="36576"/>
          </a:xfrm>
          <a:prstGeom prst="rect">
            <a:avLst/>
          </a:prstGeom>
          <a:solidFill>
            <a:srgbClr val="00C9B1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1115568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E8F4FF"/>
                </a:solidFill>
              </a:rPr>
              <a:t>This system bridges the gap between utility providers and consumers through complete digitization of the energy monitoring and billing workflow.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11480" y="2578608"/>
            <a:ext cx="1170432" cy="804672"/>
          </a:xfrm>
          <a:prstGeom prst="rect">
            <a:avLst/>
          </a:prstGeom>
          <a:solidFill>
            <a:srgbClr val="00C9B1">
              <a:alpha val="20000"/>
            </a:srgbClr>
          </a:solidFill>
          <a:ln w="12700">
            <a:solidFill>
              <a:srgbClr val="00C9B1">
                <a:alpha val="6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2615184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B1"/>
                </a:solidFill>
              </a:rPr>
              <a:t>Accurate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11480" y="2907792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D4E5F7"/>
                </a:solidFill>
              </a:rPr>
              <a:t>IoT kWh Measurement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1737360" y="2578608"/>
            <a:ext cx="1170432" cy="804672"/>
          </a:xfrm>
          <a:prstGeom prst="rect">
            <a:avLst/>
          </a:prstGeom>
          <a:solidFill>
            <a:srgbClr val="00C9B1">
              <a:alpha val="20000"/>
            </a:srgbClr>
          </a:solidFill>
          <a:ln w="12700">
            <a:solidFill>
              <a:srgbClr val="00C9B1">
                <a:alpha val="6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737360" y="2615184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B1"/>
                </a:solidFill>
              </a:rPr>
              <a:t>Real-time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737360" y="2907792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D4E5F7"/>
                </a:solidFill>
              </a:rPr>
              <a:t>Cloud Dashboard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063240" y="2578608"/>
            <a:ext cx="1170432" cy="804672"/>
          </a:xfrm>
          <a:prstGeom prst="rect">
            <a:avLst/>
          </a:prstGeom>
          <a:solidFill>
            <a:srgbClr val="00C9B1">
              <a:alpha val="20000"/>
            </a:srgbClr>
          </a:solidFill>
          <a:ln w="12700">
            <a:solidFill>
              <a:srgbClr val="00C9B1">
                <a:alpha val="6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63240" y="2615184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B1"/>
                </a:solidFill>
              </a:rPr>
              <a:t>Automated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063240" y="2907792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D4E5F7"/>
                </a:solidFill>
              </a:rPr>
              <a:t>Digital Billing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11480" y="43159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0C9B1"/>
                </a:solidFill>
              </a:rPr>
              <a:t>Thank You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663440" y="1645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B8FFF"/>
                </a:solidFill>
              </a:rPr>
              <a:t>FUTURE SCOPE</a:t>
            </a:r>
            <a:endParaRPr lang="en-US" sz="9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75488"/>
            <a:ext cx="438912" cy="43891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212080" y="4754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Comes Next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4663440" y="1005840"/>
            <a:ext cx="4114800" cy="36576"/>
          </a:xfrm>
          <a:prstGeom prst="rect">
            <a:avLst/>
          </a:prstGeom>
          <a:solidFill>
            <a:srgbClr val="1B8FFF">
              <a:alpha val="50000"/>
            </a:srgbClr>
          </a:solidFill>
          <a:ln/>
        </p:spPr>
      </p:sp>
      <p:sp>
        <p:nvSpPr>
          <p:cNvPr id="24" name="Shape 20"/>
          <p:cNvSpPr/>
          <p:nvPr/>
        </p:nvSpPr>
        <p:spPr>
          <a:xfrm>
            <a:off x="4663440" y="1115568"/>
            <a:ext cx="4114800" cy="1024128"/>
          </a:xfrm>
          <a:prstGeom prst="rect">
            <a:avLst/>
          </a:prstGeom>
          <a:solidFill>
            <a:srgbClr val="112244"/>
          </a:solidFill>
          <a:ln w="12700">
            <a:solidFill>
              <a:srgbClr val="1B8FFF">
                <a:alpha val="4500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663440" y="1115568"/>
            <a:ext cx="64008" cy="1024128"/>
          </a:xfrm>
          <a:prstGeom prst="rect">
            <a:avLst/>
          </a:prstGeom>
          <a:solidFill>
            <a:srgbClr val="1B8FFF"/>
          </a:solidFill>
          <a:ln/>
        </p:spPr>
      </p:sp>
      <p:sp>
        <p:nvSpPr>
          <p:cNvPr id="26" name="Shape 22"/>
          <p:cNvSpPr/>
          <p:nvPr/>
        </p:nvSpPr>
        <p:spPr>
          <a:xfrm>
            <a:off x="4791456" y="1261872"/>
            <a:ext cx="402336" cy="402336"/>
          </a:xfrm>
          <a:prstGeom prst="ellipse">
            <a:avLst/>
          </a:prstGeom>
          <a:solidFill>
            <a:srgbClr val="1B8FFF">
              <a:alpha val="20000"/>
            </a:srgbClr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1280160"/>
            <a:ext cx="365760" cy="3657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321808" y="1225296"/>
            <a:ext cx="3273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AI-Based Load Prediction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5321808" y="1591056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DA5BE"/>
                </a:solidFill>
              </a:rPr>
              <a:t>Machine learning models to forecast usage and reduce costs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4663440" y="2322576"/>
            <a:ext cx="4114800" cy="1024128"/>
          </a:xfrm>
          <a:prstGeom prst="rect">
            <a:avLst/>
          </a:prstGeom>
          <a:solidFill>
            <a:srgbClr val="112244"/>
          </a:solidFill>
          <a:ln w="12700">
            <a:solidFill>
              <a:srgbClr val="00C9B1">
                <a:alpha val="45000"/>
              </a:srgbClr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4663440" y="2322576"/>
            <a:ext cx="64008" cy="1024128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32" name="Shape 27"/>
          <p:cNvSpPr/>
          <p:nvPr/>
        </p:nvSpPr>
        <p:spPr>
          <a:xfrm>
            <a:off x="4791456" y="2468880"/>
            <a:ext cx="402336" cy="402336"/>
          </a:xfrm>
          <a:prstGeom prst="ellipse">
            <a:avLst/>
          </a:prstGeom>
          <a:solidFill>
            <a:srgbClr val="00C9B1">
              <a:alpha val="20000"/>
            </a:srgbClr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2487168"/>
            <a:ext cx="365760" cy="36576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321808" y="2432304"/>
            <a:ext cx="3273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Prepaid Token System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5321808" y="2798064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DA5BE"/>
                </a:solidFill>
              </a:rPr>
              <a:t>Flexible prepaid energy management for consumers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4663440" y="3529584"/>
            <a:ext cx="4114800" cy="1024128"/>
          </a:xfrm>
          <a:prstGeom prst="rect">
            <a:avLst/>
          </a:prstGeom>
          <a:solidFill>
            <a:srgbClr val="112244"/>
          </a:solidFill>
          <a:ln w="12700">
            <a:solidFill>
              <a:srgbClr val="FFB347">
                <a:alpha val="45000"/>
              </a:srgbClr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4663440" y="3529584"/>
            <a:ext cx="64008" cy="1024128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38" name="Shape 32"/>
          <p:cNvSpPr/>
          <p:nvPr/>
        </p:nvSpPr>
        <p:spPr>
          <a:xfrm>
            <a:off x="4791456" y="3675888"/>
            <a:ext cx="402336" cy="402336"/>
          </a:xfrm>
          <a:prstGeom prst="ellipse">
            <a:avLst/>
          </a:prstGeom>
          <a:solidFill>
            <a:srgbClr val="FFB347">
              <a:alpha val="20000"/>
            </a:srgbClr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744" y="3694176"/>
            <a:ext cx="365760" cy="36576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5321808" y="3639312"/>
            <a:ext cx="3273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Smart Grid Integration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5321808" y="4005072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DA5BE"/>
                </a:solidFill>
              </a:rPr>
              <a:t>Full integration with national smart grid infrastructure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C9B1">
              <a:alpha val="25000"/>
            </a:srgbClr>
          </a:solidFill>
          <a:ln/>
        </p:spPr>
      </p:sp>
      <p:sp>
        <p:nvSpPr>
          <p:cNvPr id="43" name="Text 36"/>
          <p:cNvSpPr/>
          <p:nvPr/>
        </p:nvSpPr>
        <p:spPr>
          <a:xfrm>
            <a:off x="320040" y="4983480"/>
            <a:ext cx="85039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A5BE"/>
                </a:solidFill>
              </a:rPr>
              <a:t>IoT-Based Smart Energy Monitoring &amp; Automated Billing System  |  IET (NDT)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IoT-Based Smart Energy Monitoring &amp; Automated Billing System</dc:title>
  <dc:subject>PptxGenJS Presentation</dc:subject>
  <dc:creator>PptxGenJS</dc:creator>
  <cp:lastModifiedBy>PptxGenJS</cp:lastModifiedBy>
  <cp:revision>1</cp:revision>
  <dcterms:created xsi:type="dcterms:W3CDTF">2026-03-12T01:24:07Z</dcterms:created>
  <dcterms:modified xsi:type="dcterms:W3CDTF">2026-03-12T01:24:07Z</dcterms:modified>
</cp:coreProperties>
</file>